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53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676400" y="618085"/>
            <a:ext cx="15544800" cy="96500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7599"/>
              </a:lnSpc>
              <a:buNone/>
            </a:pPr>
            <a:r>
              <a:rPr lang="en-US" sz="510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Shooting</a:t>
            </a:r>
            <a:r>
              <a:rPr lang="en-US" sz="5100" b="1" dirty="0">
                <a:solidFill>
                  <a:schemeClr val="accent1">
                    <a:lumMod val="50000"/>
                  </a:schemeClr>
                </a:solidFill>
                <a:latin typeface="Rockwell" panose="02060603020205020403" pitchFamily="18" charset="0"/>
                <a:ea typeface="Noto Sans KR" pitchFamily="34" charset="-122"/>
                <a:cs typeface="Noto Sans KR" pitchFamily="34" charset="-120"/>
              </a:rPr>
              <a:t> Target Game</a:t>
            </a:r>
            <a:endParaRPr lang="en-US" sz="5100" dirty="0">
              <a:solidFill>
                <a:schemeClr val="accent1">
                  <a:lumMod val="50000"/>
                </a:schemeClr>
              </a:solidFill>
              <a:latin typeface="Rockwell" panose="020606030202050204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95325" y="1740899"/>
            <a:ext cx="10801350" cy="33947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2673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โครงการพัฒนาเกมยิงเป้าด้วยภาษา Java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95350" y="3667125"/>
            <a:ext cx="7795171" cy="19855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945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•วิชา: Programming Fundamentals II</a:t>
            </a:r>
            <a:endParaRPr lang="th-TH" sz="28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945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</a:t>
            </a:r>
            <a:r>
              <a:rPr lang="en-US" sz="2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นายภา</a:t>
            </a:r>
            <a:r>
              <a:rPr lang="th-TH" sz="2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นุ</a:t>
            </a:r>
            <a:r>
              <a:rPr 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วัฒน์ </a:t>
            </a:r>
            <a:r>
              <a:rPr lang="th-TH" sz="28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ทรั</a:t>
            </a:r>
            <a:r>
              <a:rPr 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พย</a:t>
            </a:r>
            <a:r>
              <a:rPr lang="th-TH" sz="2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์</a:t>
            </a:r>
            <a:r>
              <a:rPr 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</a:t>
            </a:r>
            <a:r>
              <a:rPr lang="th-TH" sz="2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ง</a:t>
            </a:r>
            <a:r>
              <a:rPr 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(6830300649)</a:t>
            </a:r>
            <a:endParaRPr lang="th-TH" sz="28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945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•นายณัฐชนน ดีสูงเนิน (6830300207)</a:t>
            </a:r>
            <a:endParaRPr lang="th-TH" sz="28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945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•นายอานัส โต๊ะเอง (6830300991)</a:t>
            </a: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5890" y="2516832"/>
            <a:ext cx="1755577" cy="23041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3019425" y="530200"/>
            <a:ext cx="18230850" cy="72821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5734"/>
              </a:lnSpc>
              <a:buNone/>
            </a:pP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ที่มาและแรงบันดาลใจในการพัฒนา</a:t>
            </a:r>
            <a:endParaRPr lang="en-US" sz="4400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962025" y="1838325"/>
            <a:ext cx="8748713" cy="44894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095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•เรียนรู้ภาษา Java </a:t>
            </a:r>
            <a:r>
              <a:rPr lang="en-US" sz="24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ผ่านการปฏิบัติจริง</a:t>
            </a:r>
            <a:endParaRPr lang="en-US" sz="24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4095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•ฝึกสร้าง GUI ด้วย Java Swing</a:t>
            </a:r>
          </a:p>
          <a:p>
            <a:pPr marL="0" indent="0">
              <a:lnSpc>
                <a:spcPts val="4095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•พัฒนาทักษะ Event Handling</a:t>
            </a:r>
          </a:p>
          <a:p>
            <a:pPr marL="0" indent="0">
              <a:lnSpc>
                <a:spcPts val="4095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</a:t>
            </a:r>
            <a:r>
              <a:rPr lang="en-US" sz="24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ส่งเสริมการคิดเชิงตรรกะ</a:t>
            </a:r>
            <a:endParaRPr lang="en-US" sz="24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4095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•สร้างประสบการณ์พัฒนาซอฟต์แวร์จริง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655" y="2804815"/>
            <a:ext cx="1816596" cy="18310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693420" y="600075"/>
            <a:ext cx="13578840" cy="6171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4860"/>
              </a:lnSpc>
              <a:buNone/>
            </a:pPr>
            <a:r>
              <a:rPr lang="en-US" sz="405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วัตถุประสงค์ของโครงการ</a:t>
            </a:r>
            <a:endParaRPr lang="en-US" sz="4050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962025" y="1943100"/>
            <a:ext cx="10006013" cy="6685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633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ศึกษาพื้นฐานภาษา Java: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เรียนรู้การเขียนโปรแกรมเชิงวัตถุด้วย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Java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962025" y="2886075"/>
            <a:ext cx="8769548" cy="6685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633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พัฒนา GUI ด้วย Java Swing: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สร้างส่วนติดต่อผู้ใช้แบบกราฟิกบนเดสก์ท็อป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962025" y="3838575"/>
            <a:ext cx="9262021" cy="69353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73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เข้าใจ Event Handling: จัดการเหตุการณ์จากการคลิกและ
เคลื่อนเมาส์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62025" y="4781550"/>
            <a:ext cx="18478500" cy="3095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38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สร้างมินิเกมที่ใช้งานได้จริง: พัฒนาเกมยิงเป้า 2 มิติให้สมบูรณ์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62025" y="5236815"/>
            <a:ext cx="10121205" cy="74834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633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ฝึกทักษะการแก้ปัญหาเชิงตรรกะ: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นำทฤษฎีมาประยุกต์ใช้ผ่านการลงมือทำจริง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5890" y="2660898"/>
            <a:ext cx="2121396" cy="212586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2905125" y="681185"/>
            <a:ext cx="18002250" cy="49723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3915"/>
              </a:lnSpc>
              <a:buNone/>
            </a:pPr>
            <a:r>
              <a:rPr lang="en-US" sz="440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สถาปัตยกรรมและเครื่องมือที่ใช้พัฒนา</a:t>
            </a:r>
            <a:endParaRPr lang="en-US" sz="4400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962025" y="1838324"/>
            <a:ext cx="9000083" cy="39722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>
              <a:lnSpc>
                <a:spcPts val="2592"/>
              </a:lnSpc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th-TH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ภาษา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Java: </a:t>
            </a:r>
            <a:r>
              <a:rPr lang="th-TH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ใช้เป็นภาษาหลักในการพัฒนาโครงการตามหลักการ 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OOP</a:t>
            </a:r>
            <a:endParaRPr lang="th-TH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ts val="2592"/>
              </a:lnSpc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Java Swing: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ใช้สร้างหน้าต่างเกม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(GUI)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และองค์ประกอบภาพ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592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การแบ่งแยกส่วนการทำงาน: แยกโค้ด GUI,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ระบบเกม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</a:p>
          <a:p>
            <a:pPr marL="0" indent="0">
              <a:lnSpc>
                <a:spcPts val="2592"/>
              </a:lnSpc>
              <a:buNone/>
            </a:pP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และการจัดการ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Event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592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Event Handling: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ตรวจจับคำสั่งเม้าส์เพื่อการเล็งเป้าและยิง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592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ไม่ใช้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Library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ภายนอก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ใช้เฉพาะพัฒนา JDK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มาตรฐาน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592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รองรับหลายระบบ: ทำงานได้บน Windows, macOS,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</a:t>
            </a:r>
            <a:r>
              <a:rPr lang="th-TH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Linux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7475" y="2413992"/>
            <a:ext cx="2938165" cy="292834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2025" y="466725"/>
            <a:ext cx="19659600" cy="4914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870"/>
              </a:lnSpc>
              <a:buNone/>
            </a:pPr>
            <a:r>
              <a:rPr lang="en-US" sz="3200" b="1" dirty="0">
                <a:solidFill>
                  <a:srgbClr val="9E1B1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แนวคิด Object-Oriented Programming (OOP)</a:t>
            </a:r>
            <a:endParaRPr lang="en-US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895350" y="1714500"/>
            <a:ext cx="19442430" cy="30867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342900" indent="-342900">
              <a:lnSpc>
                <a:spcPts val="243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คลาส</a:t>
            </a:r>
            <a:r>
              <a:rPr lang="en-US" sz="2025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Player: ตัวแทนผู้เล่น — เก็บตำแหน่งเม้าส์และจัดการการยิง</a:t>
            </a:r>
            <a:endParaRPr lang="en-US" sz="2025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95350" y="2352675"/>
            <a:ext cx="7858125" cy="66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342900" indent="-342900">
              <a:lnSpc>
                <a:spcPts val="261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คลาส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Target: ตัวแทนเป้าหมาย —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เก็บตำแหน่ง</a:t>
            </a:r>
            <a:r>
              <a:rPr lang="th-TH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ขนาด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ts val="2610"/>
              </a:lnSpc>
            </a:pP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และการเคลื่อนที่ของเป้า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95350" y="3390900"/>
            <a:ext cx="7638008" cy="66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342900" indent="-342900">
              <a:lnSpc>
                <a:spcPts val="261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Encapsulation: ซ่อนข้อมูลภายในคลาส —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ใช้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ts val="2610"/>
              </a:lnSpc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getter/setter ควบคุมการเข้าถึงตัวแปร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95350" y="4457700"/>
            <a:ext cx="7480846" cy="6858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342900" indent="-342900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การสร้าง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Object จากคลาส: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สร้าง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instance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ts val="2700"/>
              </a:lnSpc>
            </a:pP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ของ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Target หลายตัวในเกม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95350" y="5467350"/>
            <a:ext cx="7208490" cy="6628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342900" indent="-342900">
              <a:lnSpc>
                <a:spcPts val="261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Method: กำหนดพฤติกรรมของวัตถุ —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เช่น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ts val="2610"/>
              </a:lnSpc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move(), draw(), checkHit() ในแต่ละคลาส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353" y="2640211"/>
            <a:ext cx="1975098" cy="229731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00150" y="600075"/>
            <a:ext cx="19659600" cy="4914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87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การจัดการข้อมูลด้วยหลักการ Encapsulation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1"/>
          <p:cNvSpPr/>
          <p:nvPr/>
        </p:nvSpPr>
        <p:spPr>
          <a:xfrm>
            <a:off x="895350" y="1838325"/>
            <a:ext cx="8801100" cy="5893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21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การซ่อนข้อมูลภายในคลาส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พิกัด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x, y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ของเป้าอุกซ่อนไว้ในคลาส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95350" y="2686050"/>
            <a:ext cx="8214271" cy="5399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26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เข้าถึงข้อมูลผ่านเมธอด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ใช้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getter/setter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ควบคุมการอ่านและแก้ไข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95350" y="3486150"/>
            <a:ext cx="8486775" cy="5801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84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ปกป้องคะแนนจากการแก้ไข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ตัวแปรคะแนนเป็น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private</a:t>
            </a:r>
            <a:r>
              <a:rPr lang="th-TH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ป้องกัน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284"/>
              </a:lnSpc>
              <a:buNone/>
            </a:pP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การเปลี่ยนแปลง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95350" y="4286250"/>
            <a:ext cx="8696325" cy="5399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26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ความปลอดภัยของระบบเกม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ข้อมูลสำคัญไม่ถูกเข้าถึงโดยตรงจากภายนอก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95350" y="5076825"/>
            <a:ext cx="8989665" cy="5399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26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แยกส่วนการทำงานชัดเจน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แต่ละคลาสรับผิดชอบข้อมูลของตัวเองเท่านั้น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8815" y="3050216"/>
            <a:ext cx="2626112" cy="260225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3745230" y="733424"/>
            <a:ext cx="19682460" cy="4801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ระบบการควบคุมแบบ Event-Driven Programming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644063" y="3823855"/>
            <a:ext cx="9848850" cy="7060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685"/>
              </a:lnSpc>
              <a:buNone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Event-Driven คืออะไร?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โปรแกรมตอบสนองต่อเหตุการณ์ที่เกิดจากผู้ใช</a:t>
            </a:r>
            <a:r>
              <a:rPr lang="th-TH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้</a:t>
            </a:r>
          </a:p>
          <a:p>
            <a:pPr marL="0" indent="0">
              <a:lnSpc>
                <a:spcPts val="2685"/>
              </a:lnSpc>
              <a:buNone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Mouse Click Event การยิง: คลิกเมาส์ = สัญญาณยิง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โปรแกรมรับและประมวลผลทันที</a:t>
            </a:r>
            <a:endParaRPr lang="th-TH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685"/>
              </a:lnSpc>
              <a:buNone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MouseListener Interface: Java ใช้ Interface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นี้จัดอับการคลิกของผู้เล่น</a:t>
            </a:r>
            <a:endParaRPr lang="th-TH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685"/>
              </a:lnSpc>
              <a:buNone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ตรวจสอบพิกัด X, Y: เปรียบเท่าเหมือน =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ลูกแก้ไม้</a:t>
            </a:r>
            <a:endParaRPr lang="th-TH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685"/>
              </a:lnSpc>
              <a:buNone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ตรวจสอบพิกัด X, Y: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เปรียบต้าแห่งคลิกกับต้าแห่งเป้าว่าโดนหรือไม่</a:t>
            </a:r>
            <a:endParaRPr lang="th-TH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685"/>
              </a:lnSpc>
              <a:buNone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พลัสพร้อมลังคลิก: โดนเป้า = เพิ่มคะแนน / พลาด =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ไม่มีการเปลี่ยนแปลง</a:t>
            </a:r>
            <a:endParaRPr lang="th-TH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685"/>
              </a:lnSpc>
              <a:buNone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แผนภาพการทำงาน: คลิก → Event → ตรวจสอบพิกัด → อัปเดตคะแนน → วาดใหม่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769" y="2043559"/>
            <a:ext cx="3425875" cy="37992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3705225" y="577642"/>
            <a:ext cx="19602450" cy="60201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4741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การแบ่งหน้าที่และความรับผิดชอบในทีม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962025" y="1781175"/>
            <a:ext cx="8664773" cy="6536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74"/>
              </a:lnSpc>
              <a:buNone/>
            </a:pP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</a:t>
            </a:r>
            <a:r>
              <a:rPr lang="en-US" sz="20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นายภานุวัฒน์</a:t>
            </a:r>
            <a:r>
              <a:rPr lang="th-TH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ทรัพย์คง</a:t>
            </a:r>
            <a:r>
              <a:rPr 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วิเคราะห์และออกแบบระบบ (ศึกษาข้อมูล
ออกแบบโครงสร้างเกม และตรวจสอบความถูกต้อง)</a:t>
            </a:r>
          </a:p>
        </p:txBody>
      </p:sp>
      <p:sp>
        <p:nvSpPr>
          <p:cNvPr id="6" name="Text 2"/>
          <p:cNvSpPr/>
          <p:nvPr/>
        </p:nvSpPr>
        <p:spPr>
          <a:xfrm>
            <a:off x="962025" y="2628900"/>
            <a:ext cx="7816155" cy="6536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74"/>
              </a:lnSpc>
              <a:buNone/>
            </a:pPr>
            <a:r>
              <a:rPr lang="en-US" sz="2000" b="1" dirty="0">
                <a:solidFill>
                  <a:srgbClr val="161F2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นายณัฐชนน ดีสูงเนิน: พัฒนาและเขียนโค้ดหลัก (</a:t>
            </a:r>
            <a:r>
              <a:rPr lang="en-US" sz="2000" b="1" dirty="0" err="1">
                <a:solidFill>
                  <a:srgbClr val="161F2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เขียนโค้ด</a:t>
            </a:r>
            <a:r>
              <a:rPr lang="th-TH" sz="2000" b="1" dirty="0">
                <a:solidFill>
                  <a:srgbClr val="161F2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>
                <a:solidFill>
                  <a:srgbClr val="161F2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</a:t>
            </a:r>
            <a:endParaRPr lang="th-TH" sz="2000" b="1" dirty="0">
              <a:solidFill>
                <a:srgbClr val="161F2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574"/>
              </a:lnSpc>
              <a:buNone/>
            </a:pPr>
            <a:r>
              <a:rPr lang="en-US" sz="2000" b="1" dirty="0" err="1">
                <a:solidFill>
                  <a:srgbClr val="161F2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สร้าง</a:t>
            </a:r>
            <a:r>
              <a:rPr lang="en-US" sz="2000" b="1" dirty="0">
                <a:solidFill>
                  <a:srgbClr val="161F2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GUI และพัฒนาตรรกะการเล่นเกม)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962025" y="3476625"/>
            <a:ext cx="8256240" cy="6810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681"/>
              </a:lnSpc>
              <a:buNone/>
            </a:pPr>
            <a:r>
              <a:rPr lang="en-US" sz="2000" b="1" dirty="0">
                <a:solidFill>
                  <a:srgbClr val="161F2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นายอานัส โต๊ะเฮง: ทดสอบระบบและนำเสนอ (ทดสอบโปรแกรม
บันทึกข้อผิดพลาด และสาธิตการทำงาน)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62025" y="4324350"/>
            <a:ext cx="8161883" cy="6536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574"/>
              </a:lnSpc>
              <a:buNone/>
            </a:pPr>
            <a:r>
              <a:rPr lang="en-US" sz="2000" b="1" dirty="0">
                <a:solidFill>
                  <a:srgbClr val="161F2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การทำงานร่วมกันเป็นทีม (สมาชิกทุกคนช่วยกันตรวจสอบและ
แก้ไข Bug ร่วมกัน)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62025" y="5162550"/>
            <a:ext cx="8172450" cy="6810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681"/>
              </a:lnSpc>
              <a:buNone/>
            </a:pPr>
            <a:r>
              <a:rPr lang="en-US" sz="2000" b="1" dirty="0">
                <a:solidFill>
                  <a:srgbClr val="161F2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ขั้นตอนการส่งมอบงานระหว่างทีม (ออกแบบ → พัฒนาโค้ด →
ทดสอบ → แก้ไข → นำเสนอ)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170" y="2379612"/>
            <a:ext cx="3974455" cy="32368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4578" y="703659"/>
            <a:ext cx="19842480" cy="6560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5166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ส่วนประกอบหลักของหน้าจอ Game UI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14375" y="1952624"/>
            <a:ext cx="6883598" cy="366385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พื้นที่เล่นเกม: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พื้นที่หลักที่เป้าหมายปรากฏและเคลื่อนที่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แถบแสดงคะแนน: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แสดงคะแนนสะสมเมื่อยิงโดนเป้าหมาย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ตัวจับเวลา: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นับถอยหลังเพื่อกำหนดระยะเวลาการเล่น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เป้าหมายเคลื่อนที่: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วัตถุที่ผู้เล่นต้องคลิกเพื่อหยิงให้โดน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16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ปุ่มควบคุมเกม: ปุ่มเริ่ม หยุด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และรีเซ็ตการเล่นเกม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255" y="2530525"/>
            <a:ext cx="2511475" cy="262651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2762250" y="647700"/>
            <a:ext cx="17716500" cy="51911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4088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กลไกการเล่นและลำดับขั้นตอนในเกม</a:t>
            </a:r>
            <a:endParaRPr lang="en-US" sz="4000" dirty="0">
              <a:solidFill>
                <a:schemeClr val="accent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962025" y="2114550"/>
            <a:ext cx="8591550" cy="377917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76"/>
              </a:lnSpc>
              <a:buNone/>
            </a:pPr>
            <a:r>
              <a:rPr lang="en-US" sz="2000" b="1" dirty="0">
                <a:solidFill>
                  <a:srgbClr val="1C1C1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เล็งเป้าหมายเม้าส์: </a:t>
            </a:r>
            <a:r>
              <a:rPr lang="en-US" sz="2000" b="1" dirty="0" err="1">
                <a:solidFill>
                  <a:srgbClr val="1C1C1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ผู้เล่นเล็งเม้าส์ไปยังเป้าหมายบนหน้าจอ</a:t>
            </a:r>
            <a:endParaRPr lang="th-TH" sz="2000" b="1" dirty="0">
              <a:solidFill>
                <a:srgbClr val="1C1C1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376"/>
              </a:lnSpc>
              <a:buNone/>
            </a:pPr>
            <a:r>
              <a:rPr lang="en-US" sz="2000" b="1" dirty="0">
                <a:solidFill>
                  <a:srgbClr val="1C1C1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คลิกช้ายเพื่อยิง: </a:t>
            </a:r>
            <a:r>
              <a:rPr lang="en-US" sz="2000" b="1" dirty="0" err="1">
                <a:solidFill>
                  <a:srgbClr val="1C1C1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กดคลิกช้ายเพื่อส่งกระสุนไปยังจุดเล็ง</a:t>
            </a:r>
            <a:endParaRPr lang="th-TH" sz="2000" b="1" dirty="0">
              <a:solidFill>
                <a:srgbClr val="1C1C1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376"/>
              </a:lnSpc>
              <a:buNone/>
            </a:pPr>
            <a:r>
              <a:rPr lang="en-US" sz="2000" b="1" dirty="0">
                <a:solidFill>
                  <a:srgbClr val="1C1C1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ตรวจสอบการชน: ระบบตรวจสอบว่าตำแหน่งคลิกตรงกับ
</a:t>
            </a:r>
            <a:r>
              <a:rPr lang="en-US" sz="2000" b="1" dirty="0" err="1">
                <a:solidFill>
                  <a:srgbClr val="1C1C1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ขอบเขตเป้าหมายไหม</a:t>
            </a:r>
            <a:endParaRPr lang="th-TH" sz="2000" b="1" dirty="0">
              <a:solidFill>
                <a:srgbClr val="1C1C1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376"/>
              </a:lnSpc>
              <a:buNone/>
            </a:pPr>
            <a:r>
              <a:rPr lang="en-US" sz="2000" b="1" dirty="0">
                <a:solidFill>
                  <a:srgbClr val="1C1C1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เป้าถูกทำลาย: หากโดน </a:t>
            </a:r>
            <a:r>
              <a:rPr lang="en-US" sz="2000" b="1" dirty="0" err="1">
                <a:solidFill>
                  <a:srgbClr val="1C1C1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เป้าจะหายไปและสร้างเป้าใหม่</a:t>
            </a:r>
            <a:endParaRPr lang="th-TH" sz="2000" b="1" dirty="0">
              <a:solidFill>
                <a:srgbClr val="1C1C1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376"/>
              </a:lnSpc>
              <a:buNone/>
            </a:pPr>
            <a:r>
              <a:rPr lang="en-US" sz="2000" b="1" dirty="0">
                <a:solidFill>
                  <a:srgbClr val="1C1C1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คะแนนเพิ่มขึ้น: </a:t>
            </a:r>
            <a:r>
              <a:rPr lang="en-US" sz="2000" b="1" dirty="0" err="1">
                <a:solidFill>
                  <a:srgbClr val="1C1C1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ระบบบวกคะแนนที่หลังยิงโดนเป้า</a:t>
            </a:r>
            <a:endParaRPr lang="th-TH" sz="2000" b="1" dirty="0">
              <a:solidFill>
                <a:srgbClr val="1C1C1C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376"/>
              </a:lnSpc>
              <a:buNone/>
            </a:pPr>
            <a:r>
              <a:rPr lang="en-US" sz="2000" b="1" dirty="0">
                <a:solidFill>
                  <a:srgbClr val="1C1C1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เป้าเคลื่อนที่ต่อเนื่อง: </a:t>
            </a:r>
            <a:r>
              <a:rPr lang="en-US" sz="2000" b="1" dirty="0" err="1">
                <a:solidFill>
                  <a:srgbClr val="1C1C1C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เป้าใหม่ปรากฏและเริ่มเคลื่อนที่อย่างต่อเนื่อง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694" y="6007596"/>
            <a:ext cx="4364682" cy="28798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694" y="5479405"/>
            <a:ext cx="4364682" cy="26059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8361" y="1851571"/>
            <a:ext cx="4864596" cy="338092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37335" y="774126"/>
            <a:ext cx="13898880" cy="39454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107"/>
              </a:lnSpc>
              <a:buNone/>
            </a:pPr>
            <a:r>
              <a:rPr lang="en-US" sz="40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ความลึกทางเทคนิค: การจัดการ Loop</a:t>
            </a:r>
            <a:endParaRPr lang="en-US" sz="4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1"/>
          <p:cNvSpPr/>
          <p:nvPr/>
        </p:nvSpPr>
        <p:spPr>
          <a:xfrm>
            <a:off x="962025" y="2114550"/>
            <a:ext cx="5657850" cy="835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289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ใช้ Multi-threading เพื่อแยก
Thread การคำนวณและแสดงผล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962025" y="3171825"/>
            <a:ext cx="5710238" cy="71258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806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คงค่า Refresh Rate ไว้ที่ 60 FPS</a:t>
            </a:r>
          </a:p>
          <a:p>
            <a:pPr marL="0" indent="0">
              <a:lnSpc>
                <a:spcPts val="2806"/>
              </a:lnSpc>
              <a:buNone/>
            </a:pP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เพื่อความลื่นไหลของภาพ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962025" y="4021446"/>
            <a:ext cx="5657850" cy="835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289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การจัดการ Collision Detection</a:t>
            </a:r>
          </a:p>
          <a:p>
            <a:pPr marL="0" indent="0">
              <a:lnSpc>
                <a:spcPts val="3289"/>
              </a:lnSpc>
              <a:buNone/>
            </a:pP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ระหว่างกราฟิกและคิตตู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941933" y="4761459"/>
            <a:ext cx="5458718" cy="835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289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การอัปเดตสถานะ Entities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แบบ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Real-time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6934200" y="5295900"/>
            <a:ext cx="308610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Thread: Game Logic</a:t>
            </a:r>
            <a:endParaRPr lang="en-US" sz="1125" dirty="0"/>
          </a:p>
        </p:txBody>
      </p:sp>
      <p:sp>
        <p:nvSpPr>
          <p:cNvPr id="12" name="Text 6"/>
          <p:cNvSpPr/>
          <p:nvPr/>
        </p:nvSpPr>
        <p:spPr>
          <a:xfrm>
            <a:off x="6934200" y="5810250"/>
            <a:ext cx="2240280" cy="15865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Thread: Render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9025" y="1985926"/>
            <a:ext cx="1946180" cy="195355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2025" y="742950"/>
            <a:ext cx="20002500" cy="5667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463"/>
              </a:lnSpc>
              <a:buNone/>
            </a:pPr>
            <a:r>
              <a:rPr lang="en-US" sz="4000" b="1" dirty="0">
                <a:solidFill>
                  <a:srgbClr val="162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การจัดการเป้าหมายและการตรวจสอบการชน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895350" y="1905000"/>
            <a:ext cx="9901238" cy="4179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45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การสุ่มตำแหน่งเกิดของเป้าหมาย: ใช้ Math.random() สุ่มพิกัด X, Y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1645"/>
              </a:lnSpc>
              <a:buNone/>
            </a:pP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ภายในขอบเขตหน้าจอ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95350" y="2686050"/>
            <a:ext cx="10163175" cy="3684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51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รูปแบบการเคลื่อนที่ของเป้า: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เป้าเคลื่อนที่แนวตรง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แนวแก</a:t>
            </a:r>
            <a:r>
              <a:rPr lang="th-TH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และแบบสุ่มทาง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95350" y="3448050"/>
            <a:ext cx="10749855" cy="4423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42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การตรวจสอบการชน (Collision Detection):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เปรียบเทียบพิกัด</a:t>
            </a:r>
            <a:r>
              <a:rPr lang="th-TH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เมื่อ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คลิกกับ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ขอบเขตของเป้าหมาย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95350" y="4219575"/>
            <a:ext cx="10016430" cy="3684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51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การคำนวณความแม่นยำในการยิง: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นับจำนวนอิงโดนเทียบกับอิงทั้งหมดแสดงเป็น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%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95350" y="4933950"/>
            <a:ext cx="10969823" cy="4914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935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การอัปเดตตำแหน่งด้วย Timer: ใช้ javax.swing.Timer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รีเฟรชตำแหน่งเป้าทุก</a:t>
            </a:r>
            <a:r>
              <a:rPr lang="th-TH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interval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95350" y="5705475"/>
            <a:ext cx="11738610" cy="1473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6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การจัดการเมื่อเป้าออกนอกหน้าจอ: รีเซ็ตตำแหน่งเป้าใหม่เมื่อเคลื่อนที่พ้นขอบเขต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255" y="2482453"/>
            <a:ext cx="2596753" cy="267459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66800" y="647700"/>
            <a:ext cx="20231100" cy="61257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823"/>
              </a:lnSpc>
              <a:buNone/>
            </a:pPr>
            <a:r>
              <a:rPr lang="en-US" sz="4000" b="1" dirty="0">
                <a:solidFill>
                  <a:srgbClr val="16204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ความท้าทายและอุปสรรคในการพัฒนา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895350" y="1905000"/>
            <a:ext cx="9104858" cy="35980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15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การเคลื่อนที่ของเป้าไม่ราบรื่น (ปัญหา Timer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</a:t>
            </a:r>
            <a:r>
              <a:rPr lang="th-TH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FPS)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315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GUI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ตอบสนองช้าเมื่อมีวัตถุจำนวนมาก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315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การตรวจสอบการชนของเป้าไม่แม่นยำ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315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ปัญหา Threading ระหว่าง Game Loop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และ</a:t>
            </a:r>
            <a:r>
              <a:rPr lang="th-TH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Event Handler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315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การจัดการหน่วยความจำในการโหลดรูปภาพ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2702123"/>
            <a:ext cx="1487388" cy="145375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62025" y="666750"/>
            <a:ext cx="18802350" cy="53727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230"/>
              </a:lnSpc>
              <a:buNone/>
            </a:pPr>
            <a:r>
              <a:rPr lang="en-US" sz="4000" b="1" dirty="0">
                <a:solidFill>
                  <a:srgbClr val="16205B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สรุปผลการทดสอบและสิ่งที่ได้เรียนรู้</a:t>
            </a:r>
            <a:endParaRPr lang="en-US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895350" y="1905000"/>
            <a:ext cx="11724233" cy="417991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61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 ผลทดสอบระบบควบคุมเม้าส์: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การคลิกตรงเป้าทำงานได้แม่นย</a:t>
            </a:r>
            <a:r>
              <a:rPr lang="th-TH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ำ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ไม่พบบั</a:t>
            </a:r>
            <a:r>
              <a:rPr lang="th-TH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</a:t>
            </a:r>
          </a:p>
          <a:p>
            <a:pPr marL="0" indent="0">
              <a:lnSpc>
                <a:spcPts val="261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ผลทดสอบระบบคะแนน: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คะแนนเพิ่มถูกต้องทุกครั้งที่ยิงโดนเป้า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61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ทักษะ GUI ที่ได้รับ: เข้าใจการใช้ Java Swing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สร้างหน้าจอเกมได้จริง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61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ทักษะ Event Handling: เรียนรู้การจัดการ MouseEvent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อย่างเป็นระบบ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61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ทักษะการแก้ไขบัค: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ฝึกค้นหาและแก้ปัญหาโค้ดจากการทดสอบจริง</a:t>
            </a:r>
            <a:endParaRPr lang="th-TH" sz="2000" b="1" dirty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ts val="261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
• บทเรียนสำคัญจากโครงการ: การลงมือทำาช่วยให้เข้าใจ OOP </a:t>
            </a:r>
            <a:r>
              <a:rPr lang="en-US" sz="2000" b="1" dirty="0" err="1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ได้ลึกกว่าทฤษฎี</a:t>
            </a:r>
            <a:endParaRPr 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707C18-6512-A8C5-C8BD-5DAC8A8027A2}"/>
              </a:ext>
            </a:extLst>
          </p:cNvPr>
          <p:cNvCxnSpPr>
            <a:cxnSpLocks/>
          </p:cNvCxnSpPr>
          <p:nvPr/>
        </p:nvCxnSpPr>
        <p:spPr>
          <a:xfrm>
            <a:off x="742603" y="1587731"/>
            <a:ext cx="10706793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808" y="0"/>
            <a:ext cx="12192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916335" y="419100"/>
            <a:ext cx="14859000" cy="66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5213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แผนการพัฒนาต่อยอดและบทสรุป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962025" y="1905000"/>
            <a:ext cx="16047720" cy="4560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591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•เพิ่มความยาก, เสี่ยง, ตารางคะแนนสูงสุด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962025" y="2609850"/>
            <a:ext cx="14264640" cy="4941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89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•เพิ่มความหลากหลายของเป้าหมายเกม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962025" y="3305175"/>
            <a:ext cx="16002000" cy="4433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491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•เรียนรู้ Java, GUI, Event Handling จริง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62025" y="4000500"/>
            <a:ext cx="15224760" cy="4686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691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•ขอบคุณและยินดีรับข้อเสนอแนะครับ/ค่ะ</a:t>
            </a:r>
            <a:endParaRPr lang="en-US" sz="24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80517" y="5734050"/>
            <a:ext cx="10801350" cy="5000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3938"/>
              </a:lnSpc>
              <a:buNone/>
            </a:pPr>
            <a:r>
              <a:rPr lang="en-US" sz="7200" b="1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1249</Words>
  <Application>Microsoft Office PowerPoint</Application>
  <PresentationFormat>Widescreen</PresentationFormat>
  <Paragraphs>122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Noto Sans KR</vt:lpstr>
      <vt:lpstr>Poppins</vt:lpstr>
      <vt:lpstr>Rockwell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Panuwat SUPKONG</cp:lastModifiedBy>
  <cp:revision>2</cp:revision>
  <dcterms:created xsi:type="dcterms:W3CDTF">2026-03-26T10:19:56Z</dcterms:created>
  <dcterms:modified xsi:type="dcterms:W3CDTF">2026-03-26T11:18:25Z</dcterms:modified>
</cp:coreProperties>
</file>